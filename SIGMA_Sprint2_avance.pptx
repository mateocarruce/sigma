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889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Detección de riesgo con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2C39A"/>
                </a:solidFill>
                <a:latin typeface="Calibri"/>
              </a:rPr>
              <a:t>Sprint 2 — modelo entrenado + explicabilidad   ·   Extra: corrección automática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Reunión de avance de equipo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Lo que planeamos para Sprint 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US-05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270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6454F"/>
                </a:solidFill>
                <a:latin typeface="Calibri"/>
              </a:rPr>
              <a:t>Dataset sintético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3852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/>
              </a:rPr>
              <a:t>3000 filas normales + 1000 anómalas en 4 reglas de negocio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33471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06039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US-06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786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6454F"/>
                </a:solidFill>
                <a:latin typeface="Calibri"/>
              </a:rPr>
              <a:t>Modelo entrenado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90087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/>
              </a:rPr>
              <a:t>RandomForestClassifier, holdout 20%, class_weight balanceado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85031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57599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US-07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301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6454F"/>
                </a:solidFill>
                <a:latin typeface="Calibri"/>
              </a:rPr>
              <a:t>Endpoint + SHAP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04164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/>
              </a:rPr>
              <a:t>/predecir-riesgo devuelve score, label y explicación por feature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59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US-08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8172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6454F"/>
                </a:solidFill>
                <a:latin typeface="Calibri"/>
              </a:rPr>
              <a:t>Health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093207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/>
              </a:rPr>
              <a:t>Smoke test con 3 casos: normal, leve, evidente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55448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E6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78308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28090"/>
                </a:solidFill>
                <a:latin typeface="Cambria"/>
              </a:rPr>
              <a:t>4 /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060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6454F"/>
                </a:solidFill>
                <a:latin typeface="Calibri"/>
              </a:rPr>
              <a:t>historias completadas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Cómo funciona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3 señales por línea de detalle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669280" cy="1051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ratio_valor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valor solicitado / valor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7085"/>
                </a:solidFill>
                <a:latin typeface="Calibri"/>
              </a:rPr>
              <a:t>≈ 1.0 normal · muy alto o bajo = sospechoso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669280" cy="1051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cantidad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unidades en esa línea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7085"/>
                </a:solidFill>
                <a:latin typeface="Calibri"/>
              </a:rPr>
              <a:t>1–6 normal · decenas/cientos = sospechoso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669280" cy="1051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veces_repetido_beneficiario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repeticiones del código para el mismo 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7085"/>
                </a:solidFill>
                <a:latin typeface="Calibri"/>
              </a:rPr>
              <a:t>1–2 normal · varias veces = sospechoso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Score → nivel de riesgo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92024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9CE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9202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20240"/>
            <a:ext cx="2331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36454F"/>
                </a:solidFill>
                <a:latin typeface="Calibri"/>
              </a:rPr>
              <a:t>&lt; 25%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78892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78892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88920"/>
            <a:ext cx="2331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36454F"/>
                </a:solidFill>
                <a:latin typeface="Calibri"/>
              </a:rPr>
              <a:t>25–50%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65760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65760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657600"/>
            <a:ext cx="2331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36454F"/>
                </a:solidFill>
                <a:latin typeface="Calibri"/>
              </a:rPr>
              <a:t>50–75%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526280"/>
            <a:ext cx="5029200" cy="713232"/>
          </a:xfrm>
          <a:prstGeom prst="roundRect">
            <a:avLst>
              <a:gd name="adj" fmla="val 8000"/>
            </a:avLst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52628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CRITICO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526280"/>
            <a:ext cx="2331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36454F"/>
                </a:solidFill>
                <a:latin typeface="Calibri"/>
              </a:rPr>
              <a:t>≥ 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7085"/>
                </a:solidFill>
                <a:latin typeface="Calibri"/>
              </a:rPr>
              <a:t>+ shap_values: qué feature explica cada predicción puntual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De la planilla al valor corregido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377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E6FFFA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Procesar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planilla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12848" y="2862072"/>
            <a:ext cx="146304" cy="219456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2377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E6FFFA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Calcular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features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24527" y="2862072"/>
            <a:ext cx="146304" cy="219456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377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E6FFFA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FastAPI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/predecir-riesgo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36208" y="2862072"/>
            <a:ext cx="146304" cy="219456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E6FFFA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score + label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+ shap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47888" y="2862072"/>
            <a:ext cx="146304" cy="219456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8321040" y="2103120"/>
            <a:ext cx="2103120" cy="173736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¿riesgo alto y no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coincide catálogo?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434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459943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6534"/>
                </a:solidFill>
                <a:latin typeface="Calibri"/>
              </a:rPr>
              <a:t>SÍ, se corrige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056631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66534"/>
                </a:solidFill>
                <a:latin typeface="Calibri"/>
              </a:rPr>
              <a:t>Reemplaza el valor y</a:t>
            </a:r>
          </a:p>
          <a:p>
            <a:pPr algn="ctr"/>
            <a:r>
              <a:rPr sz="1100" b="0" i="0">
                <a:solidFill>
                  <a:srgbClr val="166534"/>
                </a:solidFill>
                <a:latin typeface="Calibri"/>
              </a:rPr>
              <a:t>registra la auditoría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4434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459943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91B1B"/>
                </a:solidFill>
                <a:latin typeface="Calibri"/>
              </a:rPr>
              <a:t>NO, no se corrige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5056631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91B1B"/>
                </a:solidFill>
                <a:latin typeface="Calibri"/>
              </a:rPr>
              <a:t>Queda marcado para</a:t>
            </a:r>
          </a:p>
          <a:p>
            <a:pPr algn="ctr"/>
            <a:r>
              <a:rPr sz="1100" b="0" i="0">
                <a:solidFill>
                  <a:srgbClr val="991B1B"/>
                </a:solidFill>
                <a:latin typeface="Calibri"/>
              </a:rPr>
              <a:t>el auditor humano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El modelo nunca inventa el valor corregido — lo saca el motor de tarifas ya existente (23,269 registros de catálogo).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mbria"/>
              </a:rPr>
              <a:t>Prueba real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2C39A"/>
                </a:solidFill>
                <a:latin typeface="Calibri"/>
              </a:rPr>
              <a:t>Código TPSNS 99201 · Nivel II · valor oficial $8.71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CA5A5"/>
                </a:solidFill>
                <a:latin typeface="Cambria"/>
              </a:rPr>
              <a:t>$45.00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valor solicitado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46320" y="2514600"/>
            <a:ext cx="1463040" cy="45720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86EFAC"/>
                </a:solidFill>
                <a:latin typeface="Cambria"/>
              </a:rPr>
              <a:t>$8.71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00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valor corregido automáticamente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1148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C2F6B"/>
          </a:solidFill>
          <a:ln w="15875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42519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CA5A5"/>
                </a:solidFill>
                <a:latin typeface="Calibri"/>
              </a:rPr>
              <a:t>CRITICO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519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94.7%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8463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score de riesgo del modelo — factor dominante: ratio_valor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Corrección registrada en correcciones_automaticas — la línea sigue PENDIENTE para el auditor humano.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El sistema no corrige todo — tiene criterio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6534"/>
                </a:solidFill>
                <a:latin typeface="Calibri"/>
              </a:rPr>
              <a:t>Valor no coincide con 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6534"/>
                </a:solidFill>
                <a:latin typeface="Calibri"/>
              </a:rPr>
              <a:t>$45.00 vs. $8.71 oficial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92608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Calibri"/>
              </a:rPr>
              <a:t>SE CORRIGE AUTOMÁTICAMENTE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Hay un valor objetivamente correcto (el de catálogo) — sustituirlo es una decisión determinística, no una suposición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91B1B"/>
                </a:solidFill>
                <a:latin typeface="Calibri"/>
              </a:rPr>
              <a:t>Código repetido en exceso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1B1B"/>
                </a:solidFill>
                <a:latin typeface="Calibri"/>
              </a:rPr>
              <a:t>mismo código, 12 veces, mismo paciente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2926080"/>
            <a:ext cx="822960" cy="8229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632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91B1B"/>
                </a:solidFill>
                <a:latin typeface="Calibri"/>
              </a:rPr>
              <a:t>SOLO SE MARCA PARA REVISIÓN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1B1B"/>
                </a:solidFill>
                <a:latin typeface="Calibri"/>
              </a:rPr>
              <a:t>El precio en sí es correcto — no hay un valor numérico que “arreglar”. La decisión de si es fraude o son visitas legítimas queda para el auditor.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Qué sigue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05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Sprint 1 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148840"/>
            <a:ext cx="7315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Wizard de carga real conectado a MinIO (hoy sigue siendo insert manual por 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05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Sprint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66160"/>
            <a:ext cx="7315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Pantalla real de React en vez del panel de pruebas (login, tabla de planillas, riesgo visible)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05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Documentado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983480"/>
            <a:ext cx="7315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Limitación del dataset sintético ya queda explícita para la tesis — trabajo futuro: reentrenar con datos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